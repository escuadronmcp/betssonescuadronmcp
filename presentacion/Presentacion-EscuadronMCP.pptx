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4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04A3EFB9-A908-CB3E-0980-9E781F5D1644}">
          <p14:sldIdLst>
            <p14:sldId id="256"/>
            <p14:sldId id="274"/>
          </p14:sldIdLst>
        </p14:section>
        <p14:section name="Enfoque" id="{0ABF6B2E-9FA8-71ED-49A2-5F9190EC4D81}">
          <p14:sldIdLst>
            <p14:sldId id="258"/>
            <p14:sldId id="259"/>
          </p14:sldIdLst>
        </p14:section>
        <p14:section name="Validación" id="{A6593294-C7D6-4BF2-4C47-D04CE78929C1}">
          <p14:sldIdLst>
            <p14:sldId id="260"/>
            <p14:sldId id="261"/>
          </p14:sldIdLst>
        </p14:section>
        <p14:section name="Resultados" id="{EF6F8CD6-62C8-1A9C-11E3-A54629E1CFF3}">
          <p14:sldIdLst>
            <p14:sldId id="262"/>
            <p14:sldId id="263"/>
            <p14:sldId id="264"/>
          </p14:sldIdLst>
        </p14:section>
        <p14:section name="Escala" id="{F2B47249-F517-31C0-FA70-7741A67AF829}">
          <p14:sldIdLst>
            <p14:sldId id="265"/>
            <p14:sldId id="266"/>
          </p14:sldIdLst>
        </p14:section>
        <p14:section name="Cierre" id="{16298231-EC90-6733-7C16-570D3E127D60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08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Hoja_de_c_lculo_de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D2329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D2329"/>
                </a:solidFill>
                <a:latin typeface="+mn-lt"/>
              </a:rPr>
              <a:t>Horas para validar 1.000 juegos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Horas para validar 1.000 juegos</c:v>
                </c:pt>
              </c:strCache>
            </c:strRef>
          </c:tx>
          <c:spPr>
            <a:solidFill>
              <a:srgbClr val="A7B0B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AF1-4E4B-8B9D-5D18870E013B}"/>
              </c:ext>
            </c:extLst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AF1-4E4B-8B9D-5D18870E013B}"/>
              </c:ext>
            </c:extLst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AF1-4E4B-8B9D-5D18870E013B}"/>
              </c:ext>
            </c:extLst>
          </c:dPt>
          <c:dLbls>
            <c:numFmt formatCode="[&lt;100]0.0&quot; h&quot;;0&quot; h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D2329"/>
                    </a:solidFill>
                    <a:latin typeface="+mn-lt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 mano (15 min por juego)</c:v>
                </c:pt>
                <c:pt idx="1">
                  <c:v>Automático, 1 máquina</c:v>
                </c:pt>
                <c:pt idx="2">
                  <c:v>Automático, 8 en paralelo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250</c:v>
                </c:pt>
                <c:pt idx="1">
                  <c:v>20.8</c:v>
                </c:pt>
                <c:pt idx="2">
                  <c:v>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AF1-4E4B-8B9D-5D18870E01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D232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D2329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D2329"/>
                </a:solidFill>
                <a:latin typeface="+mn-lt"/>
              </a:rPr>
              <a:t>Tiempo por ejecución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por ejecución</c:v>
                </c:pt>
              </c:strCache>
            </c:strRef>
          </c:tx>
          <c:spPr>
            <a:solidFill>
              <a:srgbClr val="A7B0B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F60-7846-A5D6-4A0CF3DF37E2}"/>
              </c:ext>
            </c:extLst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F60-7846-A5D6-4A0CF3DF37E2}"/>
              </c:ext>
            </c:extLst>
          </c:dPt>
          <c:dLbls>
            <c:numFmt formatCode="0&quot; 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D2329"/>
                    </a:solidFill>
                    <a:latin typeface="+mn-lt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Antes</c:v>
                </c:pt>
                <c:pt idx="1">
                  <c:v>Ahora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F60-7846-A5D6-4A0CF3DF37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D232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D2329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D2329"/>
                </a:solidFill>
                <a:latin typeface="+mn-lt"/>
              </a:rPr>
              <a:t>Peso del informe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 del informe</c:v>
                </c:pt>
              </c:strCache>
            </c:strRef>
          </c:tx>
          <c:spPr>
            <a:solidFill>
              <a:srgbClr val="A7B0B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9A2-2A4F-9C21-98E59A23DEA1}"/>
              </c:ext>
            </c:extLst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9A2-2A4F-9C21-98E59A23DEA1}"/>
              </c:ext>
            </c:extLst>
          </c:dPt>
          <c:dLbls>
            <c:numFmt formatCode="0&quot; M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D2329"/>
                    </a:solidFill>
                    <a:latin typeface="+mn-lt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Antes</c:v>
                </c:pt>
                <c:pt idx="1">
                  <c:v>Ahora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9A2-2A4F-9C21-98E59A23DE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D232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205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98680" cy="6949440"/>
          </a:xfrm>
          <a:prstGeom prst="rect">
            <a:avLst/>
          </a:prstGeom>
          <a:solidFill>
            <a:srgbClr val="14181C"/>
          </a:solidFill>
          <a:ln w="12700">
            <a:solidFill>
              <a:srgbClr val="1418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EscuadronMCP · Reto Betsson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rgbClr val="8A949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98680" cy="6949440"/>
          </a:xfrm>
          <a:prstGeom prst="rect">
            <a:avLst/>
          </a:prstGeom>
          <a:solidFill>
            <a:srgbClr val="14181C"/>
          </a:solidFill>
          <a:ln w="12700">
            <a:solidFill>
              <a:srgbClr val="1418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rgbClr val="8A949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7F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MALACKATHON 2026 · RETO BETSSON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4028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automática de juegos de casino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343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EscuadronMCP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89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Game Validation · 16 de octubre de 2026</a:t>
            </a:r>
            <a:endParaRPr lang="en-US" sz="1200" dirty="0"/>
          </a:p>
        </p:txBody>
      </p:sp>
      <p:pic>
        <p:nvPicPr>
          <p:cNvPr id="6" name="Image 0" descr="Sweet Bonanza 2500 en betsson.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920240"/>
            <a:ext cx="4754880" cy="2674620"/>
          </a:xfrm>
          <a:prstGeom prst="rect">
            <a:avLst/>
          </a:prstGeom>
          <a:effectLst>
            <a:outerShdw blurRad="152400" dist="50800" dir="5400000" algn="bl" rotWithShape="0">
              <a:srgbClr val="000000">
                <a:alpha val="45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6903720" y="4709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Bonanza 2500, validado en betsson.es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2860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 descr="Foto de Daniel Carrasco"/>
          <p:cNvSpPr/>
          <p:nvPr/>
        </p:nvSpPr>
        <p:spPr>
          <a:xfrm>
            <a:off x="1234440" y="2651760"/>
            <a:ext cx="1188720" cy="1188720"/>
          </a:xfrm>
          <a:prstGeom prst="ellipse">
            <a:avLst/>
          </a:prstGeom>
          <a:blipFill rotWithShape="1">
            <a:blip r:embed="rId3"/>
            <a:srcRect l="42000" t="24000" r="32000" b="50000"/>
            <a:stretch>
              <a:fillRect/>
            </a:stretch>
          </a:blip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68580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Carrasco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383280" y="22860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 descr="Foto de Telesforo Romero"/>
          <p:cNvSpPr/>
          <p:nvPr/>
        </p:nvSpPr>
        <p:spPr>
          <a:xfrm>
            <a:off x="4069080" y="2651760"/>
            <a:ext cx="1188720" cy="1188720"/>
          </a:xfrm>
          <a:prstGeom prst="ellipse">
            <a:avLst/>
          </a:prstGeom>
          <a:blipFill rotWithShape="1">
            <a:blip r:embed="rId4"/>
            <a:srcRect l="8000" t="19776" r="2000" b="12776"/>
            <a:stretch>
              <a:fillRect/>
            </a:stretch>
          </a:blip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352044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Telesforo Romero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217920" y="22860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 descr="Foto de Adam Ehmidi"/>
          <p:cNvSpPr/>
          <p:nvPr/>
        </p:nvSpPr>
        <p:spPr>
          <a:xfrm>
            <a:off x="6903720" y="2651760"/>
            <a:ext cx="1188720" cy="1188720"/>
          </a:xfrm>
          <a:prstGeom prst="ellipse">
            <a:avLst/>
          </a:prstGeom>
          <a:blipFill rotWithShape="1">
            <a:blip r:embed="rId5"/>
            <a:srcRect l="34500" t="28000" r="33500" b="40000"/>
            <a:stretch>
              <a:fillRect/>
            </a:stretch>
          </a:blip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635508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Ehmidi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052560" y="22860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 descr="Foto de Héctor Encinas"/>
          <p:cNvSpPr/>
          <p:nvPr/>
        </p:nvSpPr>
        <p:spPr>
          <a:xfrm>
            <a:off x="9738360" y="2651760"/>
            <a:ext cx="1188720" cy="1188720"/>
          </a:xfrm>
          <a:prstGeom prst="ellipse">
            <a:avLst/>
          </a:prstGeom>
          <a:blipFill rotWithShape="1">
            <a:blip r:embed="rId6"/>
            <a:srcRect l="5500" t="7943" r="9500" b="7943"/>
            <a:stretch>
              <a:fillRect/>
            </a:stretch>
          </a:blip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 txBox="1"/>
          <p:nvPr/>
        </p:nvSpPr>
        <p:spPr>
          <a:xfrm>
            <a:off x="918972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Héctor Encinas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rgbClr val="8A949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52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hay que demostrar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86400" cy="178308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868680" y="18745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9476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Tirada completada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24231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juego gira y el dinero cuadra: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= antes − apuesta + premio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5486400" cy="178308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868680" y="38862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39593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insuficiente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44348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tirada se rechaza, el aviso sale en español y ningún saldo cambia</a:t>
            </a:r>
            <a:endParaRPr lang="en-US" sz="1500" dirty="0"/>
          </a:p>
        </p:txBody>
      </p:sp>
      <p:pic>
        <p:nvPicPr>
          <p:cNvPr id="11" name="Image 0" descr="Sweet Bonanza 2500 durante una tira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00200"/>
            <a:ext cx="5120640" cy="28803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492240" y="46177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juego es una imagen: no hay botones ni textos que un programa pueda leer. Hay que mirar la pantalla, como un jugador.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rgbClr val="8A949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automático, de principio a fin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77240" y="1645920"/>
            <a:ext cx="914400" cy="9144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892808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2004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801368" y="2103120"/>
            <a:ext cx="804672" cy="0"/>
          </a:xfrm>
          <a:prstGeom prst="line">
            <a:avLst/>
          </a:prstGeom>
          <a:noFill/>
          <a:ln w="19050">
            <a:solidFill>
              <a:srgbClr val="D5DAE0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2715768" y="1645920"/>
            <a:ext cx="914400" cy="9144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656" y="1892808"/>
            <a:ext cx="420624" cy="4206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258568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3739896" y="2103120"/>
            <a:ext cx="804672" cy="0"/>
          </a:xfrm>
          <a:prstGeom prst="line">
            <a:avLst/>
          </a:prstGeom>
          <a:noFill/>
          <a:ln w="19050">
            <a:solidFill>
              <a:srgbClr val="D5DAE0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7"/>
          <p:cNvSpPr/>
          <p:nvPr/>
        </p:nvSpPr>
        <p:spPr>
          <a:xfrm>
            <a:off x="4654296" y="1645920"/>
            <a:ext cx="914400" cy="9144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84" y="1892808"/>
            <a:ext cx="420624" cy="4206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197096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Casino →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 Play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678424" y="2103120"/>
            <a:ext cx="804672" cy="0"/>
          </a:xfrm>
          <a:prstGeom prst="line">
            <a:avLst/>
          </a:prstGeom>
          <a:noFill/>
          <a:ln w="19050">
            <a:solidFill>
              <a:srgbClr val="D5DAE0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0"/>
          <p:cNvSpPr/>
          <p:nvPr/>
        </p:nvSpPr>
        <p:spPr>
          <a:xfrm>
            <a:off x="6592824" y="1645920"/>
            <a:ext cx="914400" cy="9144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1892808"/>
            <a:ext cx="420624" cy="42062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135624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7616952" y="2103120"/>
            <a:ext cx="804672" cy="0"/>
          </a:xfrm>
          <a:prstGeom prst="line">
            <a:avLst/>
          </a:prstGeom>
          <a:noFill/>
          <a:ln w="19050">
            <a:solidFill>
              <a:srgbClr val="D5DAE0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3"/>
          <p:cNvSpPr/>
          <p:nvPr/>
        </p:nvSpPr>
        <p:spPr>
          <a:xfrm>
            <a:off x="8531352" y="1645920"/>
            <a:ext cx="914400" cy="9144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1892808"/>
            <a:ext cx="420624" cy="42062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74152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tirada,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observada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9555480" y="2103120"/>
            <a:ext cx="804672" cy="0"/>
          </a:xfrm>
          <a:prstGeom prst="line">
            <a:avLst/>
          </a:prstGeom>
          <a:noFill/>
          <a:ln w="19050">
            <a:solidFill>
              <a:srgbClr val="D5DAE0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16"/>
          <p:cNvSpPr/>
          <p:nvPr/>
        </p:nvSpPr>
        <p:spPr>
          <a:xfrm>
            <a:off x="10469880" y="1645920"/>
            <a:ext cx="914400" cy="9144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16768" y="1892808"/>
            <a:ext cx="420624" cy="42062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001268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777240" y="42062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70 s</a:t>
            </a:r>
            <a:endParaRPr lang="en-US" sz="4800" dirty="0"/>
          </a:p>
        </p:txBody>
      </p:sp>
      <p:sp>
        <p:nvSpPr>
          <p:cNvPr id="27" name="Text 19"/>
          <p:cNvSpPr txBox="1"/>
          <p:nvPr/>
        </p:nvSpPr>
        <p:spPr>
          <a:xfrm>
            <a:off x="777240" y="501091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escenarios, en paralelo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2062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29" name="Text 21"/>
          <p:cNvSpPr txBox="1"/>
          <p:nvPr/>
        </p:nvSpPr>
        <p:spPr>
          <a:xfrm>
            <a:off x="4526280" y="501091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intervenciones humanas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8275320" y="42062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31" name="Text 23"/>
          <p:cNvSpPr txBox="1"/>
          <p:nvPr/>
        </p:nvSpPr>
        <p:spPr>
          <a:xfrm>
            <a:off x="8275320" y="501091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tirada por ejecución, con la apuesta mínima</a:t>
            </a:r>
            <a:endParaRPr lang="en-US" sz="15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rgbClr val="8A949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medios de validación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9048" y="1737360"/>
            <a:ext cx="9144" cy="1783080"/>
          </a:xfrm>
          <a:prstGeom prst="line">
            <a:avLst/>
          </a:prstGeom>
          <a:noFill/>
          <a:ln w="1905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 flipV="1">
            <a:off x="6099048" y="2969438"/>
            <a:ext cx="2869832" cy="551002"/>
          </a:xfrm>
          <a:prstGeom prst="line">
            <a:avLst/>
          </a:prstGeom>
          <a:noFill/>
          <a:ln w="1905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6099048" y="3520440"/>
            <a:ext cx="1773654" cy="1442542"/>
          </a:xfrm>
          <a:prstGeom prst="line">
            <a:avLst/>
          </a:prstGeom>
          <a:noFill/>
          <a:ln w="1905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 flipV="1">
            <a:off x="4325394" y="3520440"/>
            <a:ext cx="1773654" cy="1442542"/>
          </a:xfrm>
          <a:prstGeom prst="line">
            <a:avLst/>
          </a:prstGeom>
          <a:noFill/>
          <a:ln w="1905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229216" y="2969438"/>
            <a:ext cx="2869832" cy="551002"/>
          </a:xfrm>
          <a:prstGeom prst="line">
            <a:avLst/>
          </a:prstGeom>
          <a:noFill/>
          <a:ln w="1905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230368" y="2651760"/>
            <a:ext cx="1737360" cy="1737360"/>
          </a:xfrm>
          <a:prstGeom prst="ellipse">
            <a:avLst/>
          </a:prstGeom>
          <a:solidFill>
            <a:srgbClr val="1D2329"/>
          </a:solidFill>
          <a:ln w="12700">
            <a:solidFill>
              <a:srgbClr val="1D232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5230368" y="26517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comprobación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55564" y="1293876"/>
            <a:ext cx="886968" cy="886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5710428" y="1348740"/>
            <a:ext cx="777240" cy="7772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283" y="1558595"/>
            <a:ext cx="357530" cy="35753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624828" y="1371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 el jugador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525396" y="2525954"/>
            <a:ext cx="886968" cy="886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8580260" y="2580818"/>
            <a:ext cx="777240" cy="777240"/>
          </a:xfrm>
          <a:prstGeom prst="ellipse">
            <a:avLst/>
          </a:prstGeom>
          <a:solidFill>
            <a:srgbClr val="D7EEEB"/>
          </a:solidFill>
          <a:ln w="12700">
            <a:solidFill>
              <a:srgbClr val="D7EE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0115" y="2790673"/>
            <a:ext cx="357530" cy="35753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494660" y="260367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rodillos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7429218" y="4519498"/>
            <a:ext cx="886968" cy="886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5"/>
          <p:cNvSpPr/>
          <p:nvPr/>
        </p:nvSpPr>
        <p:spPr>
          <a:xfrm>
            <a:off x="7484082" y="4574362"/>
            <a:ext cx="777240" cy="777240"/>
          </a:xfrm>
          <a:prstGeom prst="ellipse">
            <a:avLst/>
          </a:prstGeom>
          <a:solidFill>
            <a:srgbClr val="D7EEEB"/>
          </a:solidFill>
          <a:ln w="12700">
            <a:solidFill>
              <a:srgbClr val="D7EE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3937" y="4784217"/>
            <a:ext cx="357530" cy="35753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98482" y="459722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del juego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3881910" y="4519498"/>
            <a:ext cx="886968" cy="886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18"/>
          <p:cNvSpPr/>
          <p:nvPr/>
        </p:nvSpPr>
        <p:spPr>
          <a:xfrm>
            <a:off x="3936774" y="4574362"/>
            <a:ext cx="777240" cy="777240"/>
          </a:xfrm>
          <a:prstGeom prst="ellipse">
            <a:avLst/>
          </a:prstGeom>
          <a:solidFill>
            <a:srgbClr val="D7EEEB"/>
          </a:solidFill>
          <a:ln w="12700">
            <a:solidFill>
              <a:srgbClr val="D7EE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6629" y="4784217"/>
            <a:ext cx="357530" cy="35753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96494" y="459722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del juego</a:t>
            </a:r>
            <a:endParaRPr lang="en-US" sz="1500" dirty="0"/>
          </a:p>
          <a:p>
            <a:pPr marL="0" indent="0" algn="r">
              <a:buNone/>
            </a:pPr>
            <a:r>
              <a:rPr lang="en-US" sz="1500" b="1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web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2785732" y="2525954"/>
            <a:ext cx="886968" cy="886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1"/>
          <p:cNvSpPr/>
          <p:nvPr/>
        </p:nvSpPr>
        <p:spPr>
          <a:xfrm>
            <a:off x="2840596" y="2580818"/>
            <a:ext cx="777240" cy="777240"/>
          </a:xfrm>
          <a:prstGeom prst="ellipse">
            <a:avLst/>
          </a:prstGeom>
          <a:solidFill>
            <a:srgbClr val="D7EEEB"/>
          </a:solidFill>
          <a:ln w="12700">
            <a:solidFill>
              <a:srgbClr val="D7EE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0451" y="2790673"/>
            <a:ext cx="357530" cy="35753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00316" y="260367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en la web</a:t>
            </a:r>
            <a:endParaRPr lang="en-US" sz="1500" dirty="0"/>
          </a:p>
          <a:p>
            <a:pPr marL="0" indent="0" algn="r">
              <a:buNone/>
            </a:pPr>
            <a:r>
              <a:rPr lang="en-US" sz="1500" b="1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Betsson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r>
              <a:rPr lang="en-US" sz="17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si lo confirma lo que ve el jugador y ningún otro medio lo contradice</a:t>
            </a:r>
            <a:endParaRPr lang="en-US" sz="17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rgbClr val="8A949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damos un PASS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254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74320" cy="274320"/>
          </a:xfrm>
          <a:prstGeom prst="ellipse">
            <a:avLst/>
          </a:prstGeom>
          <a:solidFill>
            <a:srgbClr val="0F766E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girar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Apuesta mínima, comprobada en pantalla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cuenta es la esperada: con o sin saldo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más está usando la cuenta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274320" cy="274320"/>
          </a:xfrm>
          <a:prstGeom prst="ellipse">
            <a:avLst/>
          </a:prstGeom>
          <a:solidFill>
            <a:srgbClr val="0F766E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4297680" y="2148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la tirada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74320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clic: la tirada nunca se repite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mide el movimiento de los rodillos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espera al cierre de la ronda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274320" cy="274320"/>
          </a:xfrm>
          <a:prstGeom prst="ellipse">
            <a:avLst/>
          </a:prstGeom>
          <a:solidFill>
            <a:srgbClr val="0F766E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8046720" y="2148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74320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Saldos leídos hasta que son estables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cuenta cuadra al céntimo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medio contradice al jugador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11064240" cy="0"/>
          </a:xfrm>
          <a:prstGeom prst="line">
            <a:avLst/>
          </a:prstGeom>
          <a:noFill/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548640" y="48463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892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interferencias reales durante las pruebas: otra sesión usando la misma cuenta.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 se detectaron. Ninguna se dio por buena.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rgbClr val="8A949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reales en betsson.es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ejecuciones completas con la versión final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11680"/>
            <a:ext cx="274320" cy="274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05179" y="1874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339" y="2011680"/>
            <a:ext cx="274320" cy="274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861718" y="1874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878" y="2011680"/>
            <a:ext cx="274320" cy="2743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518258" y="1874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418" y="2011680"/>
            <a:ext cx="274320" cy="27432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174797" y="1874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957" y="2011680"/>
            <a:ext cx="274320" cy="27432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3831336" y="1874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496" y="2011680"/>
            <a:ext cx="274320" cy="27432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4487875" y="1874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035" y="2011680"/>
            <a:ext cx="274320" cy="27432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5144414" y="1874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574" y="2011680"/>
            <a:ext cx="274320" cy="27432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5800954" y="1874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114" y="2011680"/>
            <a:ext cx="274320" cy="274320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6457493" y="1874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53" y="2011680"/>
            <a:ext cx="274320" cy="274320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7114032" y="1874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2011680"/>
            <a:ext cx="274320" cy="274320"/>
          </a:xfrm>
          <a:prstGeom prst="rect">
            <a:avLst/>
          </a:prstGeom>
        </p:spPr>
      </p:pic>
      <p:sp>
        <p:nvSpPr>
          <p:cNvPr id="26" name="Shape 13"/>
          <p:cNvSpPr/>
          <p:nvPr/>
        </p:nvSpPr>
        <p:spPr>
          <a:xfrm>
            <a:off x="7770571" y="1874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731" y="2011680"/>
            <a:ext cx="274320" cy="274320"/>
          </a:xfrm>
          <a:prstGeom prst="rect">
            <a:avLst/>
          </a:prstGeom>
        </p:spPr>
      </p:pic>
      <p:sp>
        <p:nvSpPr>
          <p:cNvPr id="28" name="Shape 14"/>
          <p:cNvSpPr/>
          <p:nvPr/>
        </p:nvSpPr>
        <p:spPr>
          <a:xfrm>
            <a:off x="8427110" y="1874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270" y="2011680"/>
            <a:ext cx="274320" cy="274320"/>
          </a:xfrm>
          <a:prstGeom prst="rect">
            <a:avLst/>
          </a:prstGeom>
        </p:spPr>
      </p:pic>
      <p:sp>
        <p:nvSpPr>
          <p:cNvPr id="30" name="Shape 15"/>
          <p:cNvSpPr/>
          <p:nvPr/>
        </p:nvSpPr>
        <p:spPr>
          <a:xfrm>
            <a:off x="9083650" y="1874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810" y="2011680"/>
            <a:ext cx="274320" cy="274320"/>
          </a:xfrm>
          <a:prstGeom prst="rect">
            <a:avLst/>
          </a:prstGeom>
        </p:spPr>
      </p:pic>
      <p:sp>
        <p:nvSpPr>
          <p:cNvPr id="32" name="Shape 16"/>
          <p:cNvSpPr/>
          <p:nvPr/>
        </p:nvSpPr>
        <p:spPr>
          <a:xfrm>
            <a:off x="9740189" y="1874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3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7349" y="2011680"/>
            <a:ext cx="274320" cy="274320"/>
          </a:xfrm>
          <a:prstGeom prst="rect">
            <a:avLst/>
          </a:prstGeom>
        </p:spPr>
      </p:pic>
      <p:sp>
        <p:nvSpPr>
          <p:cNvPr id="34" name="Shape 17"/>
          <p:cNvSpPr/>
          <p:nvPr/>
        </p:nvSpPr>
        <p:spPr>
          <a:xfrm>
            <a:off x="10396728" y="1874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A7B0B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5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888" y="2011680"/>
            <a:ext cx="274320" cy="274320"/>
          </a:xfrm>
          <a:prstGeom prst="rect">
            <a:avLst/>
          </a:prstGeom>
        </p:spPr>
      </p:pic>
      <p:sp>
        <p:nvSpPr>
          <p:cNvPr id="36" name="Shape 18"/>
          <p:cNvSpPr/>
          <p:nvPr/>
        </p:nvSpPr>
        <p:spPr>
          <a:xfrm>
            <a:off x="11053267" y="18745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A7B0B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7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0427" y="2011680"/>
            <a:ext cx="274320" cy="274320"/>
          </a:xfrm>
          <a:prstGeom prst="rect">
            <a:avLst/>
          </a:prstGeom>
        </p:spPr>
      </p:pic>
      <p:sp>
        <p:nvSpPr>
          <p:cNvPr id="38" name="Shape 19"/>
          <p:cNvSpPr/>
          <p:nvPr/>
        </p:nvSpPr>
        <p:spPr>
          <a:xfrm>
            <a:off x="548640" y="272491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20"/>
          <p:cNvSpPr txBox="1"/>
          <p:nvPr/>
        </p:nvSpPr>
        <p:spPr>
          <a:xfrm>
            <a:off x="822960" y="2651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en PASS</a:t>
            </a:r>
            <a:endParaRPr lang="en-US" sz="1400" dirty="0"/>
          </a:p>
        </p:txBody>
      </p:sp>
      <p:sp>
        <p:nvSpPr>
          <p:cNvPr id="40" name="Shape 21"/>
          <p:cNvSpPr/>
          <p:nvPr/>
        </p:nvSpPr>
        <p:spPr>
          <a:xfrm>
            <a:off x="2148840" y="272491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7B0B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22"/>
          <p:cNvSpPr txBox="1"/>
          <p:nvPr/>
        </p:nvSpPr>
        <p:spPr>
          <a:xfrm>
            <a:off x="2423160" y="26517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 otra sesión en la misma cuenta: se detectó y no se dio PASS</a:t>
            </a:r>
            <a:endParaRPr lang="en-US" sz="1400" dirty="0"/>
          </a:p>
        </p:txBody>
      </p:sp>
      <p:sp>
        <p:nvSpPr>
          <p:cNvPr id="42" name="Text 23"/>
          <p:cNvSpPr txBox="1"/>
          <p:nvPr/>
        </p:nvSpPr>
        <p:spPr>
          <a:xfrm>
            <a:off x="548640" y="36118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4800" dirty="0"/>
          </a:p>
        </p:txBody>
      </p:sp>
      <p:sp>
        <p:nvSpPr>
          <p:cNvPr id="43" name="Text 24"/>
          <p:cNvSpPr txBox="1"/>
          <p:nvPr/>
        </p:nvSpPr>
        <p:spPr>
          <a:xfrm>
            <a:off x="548640" y="44165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comprobaciones superadas</a:t>
            </a:r>
            <a:endParaRPr lang="en-US" sz="1500" dirty="0"/>
          </a:p>
        </p:txBody>
      </p:sp>
      <p:sp>
        <p:nvSpPr>
          <p:cNvPr id="44" name="Text 25"/>
          <p:cNvSpPr txBox="1"/>
          <p:nvPr/>
        </p:nvSpPr>
        <p:spPr>
          <a:xfrm>
            <a:off x="4297680" y="36118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4800" dirty="0"/>
          </a:p>
        </p:txBody>
      </p:sp>
      <p:sp>
        <p:nvSpPr>
          <p:cNvPr id="45" name="Text 26"/>
          <p:cNvSpPr txBox="1"/>
          <p:nvPr/>
        </p:nvSpPr>
        <p:spPr>
          <a:xfrm>
            <a:off x="4297680" y="44165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reales durante el desarrollo</a:t>
            </a:r>
            <a:endParaRPr lang="en-US" sz="1500" dirty="0"/>
          </a:p>
        </p:txBody>
      </p:sp>
      <p:sp>
        <p:nvSpPr>
          <p:cNvPr id="46" name="Text 27"/>
          <p:cNvSpPr txBox="1"/>
          <p:nvPr/>
        </p:nvSpPr>
        <p:spPr>
          <a:xfrm>
            <a:off x="8046720" y="36118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245</a:t>
            </a:r>
            <a:endParaRPr lang="en-US" sz="4800" dirty="0"/>
          </a:p>
        </p:txBody>
      </p:sp>
      <p:sp>
        <p:nvSpPr>
          <p:cNvPr id="47" name="Text 28"/>
          <p:cNvSpPr txBox="1"/>
          <p:nvPr/>
        </p:nvSpPr>
        <p:spPr>
          <a:xfrm>
            <a:off x="8046720" y="44165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automáticos, en Linux y Windows</a:t>
            </a:r>
            <a:endParaRPr lang="en-US" sz="1500" dirty="0"/>
          </a:p>
        </p:txBody>
      </p:sp>
      <p:sp>
        <p:nvSpPr>
          <p:cNvPr id="48" name="Text 29"/>
          <p:cNvSpPr txBox="1"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Ejecuciones locales y en GitHub Actions del 15/10/2026, con Sweet Bonanza 2500 y Big Bass Halloween Splash 1000.</a:t>
            </a:r>
            <a:endParaRPr lang="en-US" sz="12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rgbClr val="8A949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y escala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IA en una ejecución normal: todo es local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0,01 $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IA para aprender un juego nuevo, una sola vez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0,01 €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9834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pérdida media por ejecución (se apuestan 0,20 €)</a:t>
            </a:r>
            <a:endParaRPr lang="en-US" sz="15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120640" y="1371600"/>
          <a:ext cx="64922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120640" y="525780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con 75 s por juego y una cuenta de prueba por máquina. Para 1.000 juegos: menos de 10 $ de IA, una sola vez, y ≈ 11 € de pérdida media por pasada.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rgbClr val="8A949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63040"/>
          <a:ext cx="36118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663440" y="1463040"/>
          <a:ext cx="36118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9006840" y="16002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9006840" y="27889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a la IA en una ejecución normal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48640" y="4572000"/>
            <a:ext cx="11064240" cy="0"/>
          </a:xfrm>
          <a:prstGeom prst="line">
            <a:avLst/>
          </a:prstGeom>
          <a:noFill/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4"/>
          <p:cNvSpPr txBox="1"/>
          <p:nvPr/>
        </p:nvSpPr>
        <p:spPr>
          <a:xfrm>
            <a:off x="548640" y="4800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en paralelo, esperas por condición en lugar de pausas fijas y solo las capturas que sirven de prueba.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rgbClr val="8A949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juego nuevo, sin programar</a:t>
            </a:r>
            <a:endParaRPr lang="en-US" sz="3200" dirty="0"/>
          </a:p>
        </p:txBody>
      </p:sp>
      <p:pic>
        <p:nvPicPr>
          <p:cNvPr id="3" name="Image 0" descr="Sweet Bonanza 25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394960" cy="3035808"/>
          </a:xfrm>
          <a:prstGeom prst="rect">
            <a:avLst/>
          </a:prstGeom>
        </p:spPr>
      </p:pic>
      <p:pic>
        <p:nvPicPr>
          <p:cNvPr id="4" name="Image 1" descr="Big Bass Halloween Splash 10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17320"/>
            <a:ext cx="5394960" cy="303580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572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Bonanza 2500</a:t>
            </a:r>
            <a:r>
              <a:rPr lang="en-US" sz="14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aprendido por 0,008 $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6217920" y="4572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Bass Halloween Splash 1000</a:t>
            </a:r>
            <a:r>
              <a:rPr lang="en-US" sz="14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aprendido por 0,0011 $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166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código para los dos. La IA aprende cada juego una sola vez, en un minuto, y el resultado se comprueba antes de usarlo.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rgbClr val="8A949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muestra el informe</a:t>
            </a:r>
            <a:endParaRPr lang="en-US" sz="3200" dirty="0"/>
          </a:p>
        </p:txBody>
      </p:sp>
      <p:pic>
        <p:nvPicPr>
          <p:cNvPr id="3" name="Image 0" descr="Informe: valores de cada medio en una tirada re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440680" cy="2154876"/>
          </a:xfrm>
          <a:prstGeom prst="rect">
            <a:avLst/>
          </a:prstGeom>
        </p:spPr>
      </p:pic>
      <p:pic>
        <p:nvPicPr>
          <p:cNvPr id="4" name="Image 1" descr="Informe: la prueba que falla a propósi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17320"/>
            <a:ext cx="5440680" cy="196129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79476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tirada real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medios coinciden al céntimo: 194,08 € − 0,20 € + 0,00 € = 193,88 €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6172200" y="379476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que falla a propósito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céntimo de más en el saldo de Betsson basta para dar FAIL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4"/>
          <p:cNvSpPr txBox="1"/>
          <p:nvPr/>
        </p:nvSpPr>
        <p:spPr>
          <a:xfrm>
            <a:off x="548640" y="5074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Además: capturas antes, durante y después, la gráfica del movimiento de los rodillos y la cronología de cada ejecución.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rgbClr val="8A949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resumen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031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rgbClr val="7FD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46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medios de validación en cada comprobación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434840" y="21031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rgbClr val="7FD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434840" y="3246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IA en una ejecución normal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21031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rgbClr val="7FD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 h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3246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validar 1.000 juegos con 8 máquinas en paralelo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983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github.com/EscuadronMCP/BetssonEscuadronMCP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532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FD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cuadronMCP">
  <a:themeElements>
    <a:clrScheme name="EscuadronMCP">
      <a:dk1>
        <a:srgbClr val="1D2329"/>
      </a:dk1>
      <a:lt1>
        <a:srgbClr val="FFFFFF"/>
      </a:lt1>
      <a:dk2>
        <a:srgbClr val="14181C"/>
      </a:dk2>
      <a:lt2>
        <a:srgbClr val="F3F5F7"/>
      </a:lt2>
      <a:accent1>
        <a:srgbClr val="0F766E"/>
      </a:accent1>
      <a:accent2>
        <a:srgbClr val="7FD1C7"/>
      </a:accent2>
      <a:accent3>
        <a:srgbClr val="5F6B76"/>
      </a:accent3>
      <a:accent4>
        <a:srgbClr val="A7B0B9"/>
      </a:accent4>
      <a:accent5>
        <a:srgbClr val="B42318"/>
      </a:accent5>
      <a:accent6>
        <a:srgbClr val="D7EEEB"/>
      </a:accent6>
      <a:hlink>
        <a:srgbClr val="0F766E"/>
      </a:hlink>
      <a:folHlink>
        <a:srgbClr val="5F6B76"/>
      </a:folHlink>
    </a:clrScheme>
    <a:fontScheme name="EscuadronMC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D44E2F7-6937-AA4E-8B37-4FB8FE6FBB60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9e52f8fa-4ba8-4ea5-959a-2d9a6ccaa3a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1359</Words>
  <Application>Microsoft Macintosh PowerPoint</Application>
  <PresentationFormat>Panorámica</PresentationFormat>
  <Paragraphs>145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EscuadronMCP</vt:lpstr>
      <vt:lpstr>Presentación de PowerPoint</vt:lpstr>
      <vt:lpstr>Equipo</vt:lpstr>
      <vt:lpstr>Qué hay que demostrar</vt:lpstr>
      <vt:lpstr>Todo automático, de principio a fin</vt:lpstr>
      <vt:lpstr>Cinco medios de validación</vt:lpstr>
      <vt:lpstr>Cuándo damos un PASS</vt:lpstr>
      <vt:lpstr>Resultados reales en betsson.es</vt:lpstr>
      <vt:lpstr>Coste y escala</vt:lpstr>
      <vt:lpstr>Optimización</vt:lpstr>
      <vt:lpstr>Un juego nuevo, sin programar</vt:lpstr>
      <vt:lpstr>Lo que muestra el informe</vt:lpstr>
      <vt:lpstr>Presentación de PowerPoint</vt:lpstr>
    </vt:vector>
  </TitlesOfParts>
  <Company>EscuadronMCP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Validación automática de juegos de casino</dc:title>
  <dc:subject>Malackathon 2026 · Reto Betsson</dc:subject>
  <dc:creator>EscuadronMCP</dc:creator>
  <cp:lastModifiedBy>EscuadronMCP</cp:lastModifiedBy>
  <cp:revision>1</cp:revision>
  <dcterms:created xsi:type="dcterms:W3CDTF">2026-10-15T20:37:16Z</dcterms:created>
  <dcterms:modified xsi:type="dcterms:W3CDTF">2026-10-15T21:03:08Z</dcterms:modified>
</cp:coreProperties>
</file>